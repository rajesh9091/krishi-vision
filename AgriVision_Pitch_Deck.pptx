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2926080" cy="2926080"/>
          </a:xfrm>
          <a:prstGeom prst="ellipse">
            <a:avLst/>
          </a:prstGeom>
          <a:solidFill>
            <a:srgbClr val="6B9B5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914400"/>
            <a:ext cx="1828800" cy="182880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6B9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198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AGRI-VISION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Crop Pathologist, Powered by AI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leaf. Get an expert diagnosis, a localized treatment plan, and spoken guidance in your own language — with zero internet, zero cloud, entirely on your phone.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2026  ·  Track: Open Innovation / AgriTech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crop advice doesn't reach the fields that need it most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21992"/>
            <a:ext cx="822960" cy="822960"/>
          </a:xfrm>
          <a:prstGeom prst="ellipse">
            <a:avLst/>
          </a:prstGeom>
          <a:solidFill>
            <a:srgbClr val="6B9B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219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</a:t>
            </a:r>
            <a:endParaRPr lang="en-US" sz="198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13055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signal, no help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51460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crop-advisory apps stop working the moment connectivity drops — and most rural Indian farmland has patchy or no signal at all.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730752"/>
            <a:ext cx="822960" cy="822960"/>
          </a:xfrm>
          <a:prstGeom prst="ellipse">
            <a:avLst/>
          </a:prstGeom>
          <a:solidFill>
            <a:srgbClr val="6B9B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307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👨‍🌾</a:t>
            </a:r>
            <a:endParaRPr lang="en-US" sz="198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6393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Experts don't scale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4023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crop-extension agronomist can walk a handful of farms a day. Millions of smallholder farmers never get to show a diseased leaf to an expert in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239512"/>
            <a:ext cx="822960" cy="822960"/>
          </a:xfrm>
          <a:prstGeom prst="ellipse">
            <a:avLst/>
          </a:prstGeom>
          <a:solidFill>
            <a:srgbClr val="6B9B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239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98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51480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costs the harvest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53212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farmer travels to get a diagnosis, the disease has already spread — a wrong or late treatment can cost an entire season's income.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that sees the leaf, reasons like an agronomist, and speaks the answer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246120"/>
          </a:xfrm>
          <a:prstGeom prst="roundRect">
            <a:avLst>
              <a:gd name="adj" fmla="val 5091"/>
            </a:avLst>
          </a:prstGeom>
          <a:solidFill>
            <a:srgbClr val="1F4A34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018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148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photographs a leaf with the phone camera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3520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10712" y="2148840"/>
            <a:ext cx="2514600" cy="3246120"/>
          </a:xfrm>
          <a:prstGeom prst="roundRect">
            <a:avLst>
              <a:gd name="adj" fmla="val 5091"/>
            </a:avLst>
          </a:prstGeom>
          <a:solidFill>
            <a:srgbClr val="6B9B5E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10812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10812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639312" y="41148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vision model identifies the disease, on-device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934456" y="3520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81344" y="2148840"/>
            <a:ext cx="2514600" cy="3246120"/>
          </a:xfrm>
          <a:prstGeom prst="roundRect">
            <a:avLst>
              <a:gd name="adj" fmla="val 5091"/>
            </a:avLst>
          </a:prstGeom>
          <a:solidFill>
            <a:srgbClr val="1F4A34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1444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81444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41148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adjusts treatment for GPS zone, soil &amp; season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705088" y="3520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51976" y="2148840"/>
            <a:ext cx="2514600" cy="3246120"/>
          </a:xfrm>
          <a:prstGeom prst="roundRect">
            <a:avLst>
              <a:gd name="adj" fmla="val 5091"/>
            </a:avLst>
          </a:prstGeom>
          <a:solidFill>
            <a:srgbClr val="6B9B5E"/>
          </a:solidFill>
          <a:ln/>
          <a:effectLst>
            <a:outerShdw sx="100000" sy="100000" kx="0" ky="0" algn="bl" rotWithShape="0" blurRad="889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52076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752076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089136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134856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180576" y="411480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is spoken aloud in the farmer's regional language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generic follow-along advice, Agri-Vision responds to this farmer's crop, this farmer's field, this farmer's language.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Work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— real diagnosis, real dosage math, real speech, fully offline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9050">
            <a:solidFill>
              <a:srgbClr val="6B9B5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606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520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977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— S. Dry Zone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34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4434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Mancozeb 2g / L water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983480"/>
            <a:ext cx="3703320" cy="502920"/>
          </a:xfrm>
          <a:prstGeom prst="roundRect">
            <a:avLst>
              <a:gd name="adj" fmla="val 50909"/>
            </a:avLst>
          </a:prstGeom>
          <a:solidFill>
            <a:srgbClr val="1F4A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983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Play plan in Kannada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6692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timings_ms — vision 480 · llm 4200 · tts 900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1965960"/>
            <a:ext cx="63093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035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DOSAGE CALCULATOR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606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size: 2 acres  →  4 tank-fills (15 L)  →  120 g Mancozeb total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200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 plain Python — never left to the LLM to guess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74920" y="4160520"/>
            <a:ext cx="63093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6B9B5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30352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SEVERITY SCAN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4800600"/>
            <a:ext cx="4206240" cy="320040"/>
          </a:xfrm>
          <a:prstGeom prst="roundRect">
            <a:avLst>
              <a:gd name="adj" fmla="val 48571"/>
            </a:avLst>
          </a:prstGeom>
          <a:solidFill>
            <a:srgbClr val="E8E4D6"/>
          </a:solidFill>
          <a:ln/>
        </p:spPr>
      </p:sp>
      <p:sp>
        <p:nvSpPr>
          <p:cNvPr id="26" name="Shape 24"/>
          <p:cNvSpPr/>
          <p:nvPr/>
        </p:nvSpPr>
        <p:spPr>
          <a:xfrm>
            <a:off x="5303520" y="480060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D9A44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303520" y="5257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 affected — moderate — spray once, re-scan in 5 days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5715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by voice: “How much medicine for two acres?” — answered and spoken back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local pipeline — every stage has a graceful fallback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6B9B5E"/>
          </a:solidFill>
          <a:ln/>
        </p:spPr>
      </p:sp>
      <p:sp>
        <p:nvSpPr>
          <p:cNvPr id="5" name="Shape 3"/>
          <p:cNvSpPr/>
          <p:nvPr/>
        </p:nvSpPr>
        <p:spPr>
          <a:xfrm>
            <a:off x="125730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5730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76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93192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 captured on-phone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3246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2148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6B9B5E"/>
          </a:solidFill>
          <a:ln/>
        </p:spPr>
      </p:sp>
      <p:sp>
        <p:nvSpPr>
          <p:cNvPr id="11" name="Shape 9"/>
          <p:cNvSpPr/>
          <p:nvPr/>
        </p:nvSpPr>
        <p:spPr>
          <a:xfrm>
            <a:off x="340614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0614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76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Classifier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393192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/ PlantVillage model, on-device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246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2148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6B9B5E"/>
          </a:solidFill>
          <a:ln/>
        </p:spPr>
      </p:sp>
      <p:sp>
        <p:nvSpPr>
          <p:cNvPr id="17" name="Shape 15"/>
          <p:cNvSpPr/>
          <p:nvPr/>
        </p:nvSpPr>
        <p:spPr>
          <a:xfrm>
            <a:off x="555498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5498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76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&amp; Context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47488" y="393192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→ agro-zone, soil, season (SQLite)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246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86600" y="2148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6B9B5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0382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0382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76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LLM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6328" y="393192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Qwen3-1.7B via Ollama, thinking off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3246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235440" y="2148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6B9B5E"/>
          </a:solidFill>
          <a:ln/>
        </p:spPr>
      </p:sp>
      <p:sp>
        <p:nvSpPr>
          <p:cNvPr id="29" name="Shape 27"/>
          <p:cNvSpPr/>
          <p:nvPr/>
        </p:nvSpPr>
        <p:spPr>
          <a:xfrm>
            <a:off x="985266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85266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🔈</a:t>
            </a:r>
            <a:endParaRPr lang="en-US" sz="176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337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TTS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45168" y="3931920"/>
            <a:ext cx="1746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MMS-TTS speaks kn / hi / te / ta / en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F4F1E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ladder: Ollama LLM → GGUF via llama.cpp → templated plan  ·  HF vision model → keyword match  ·  MMS-TTS (lang) → MMS-TTS (English) → on-screen text  ·  GPS → manual lat/lon → default zone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Phone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 used, every model on-device, zero cloud calls at inference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13432"/>
            <a:ext cx="640080" cy="640080"/>
          </a:xfrm>
          <a:prstGeom prst="ellipse">
            <a:avLst/>
          </a:prstGeom>
          <a:solidFill>
            <a:srgbClr val="6B4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54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24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photos &amp; field-severity pans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0574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313432"/>
            <a:ext cx="640080" cy="640080"/>
          </a:xfrm>
          <a:prstGeom prst="ellipse">
            <a:avLst/>
          </a:prstGeom>
          <a:solidFill>
            <a:srgbClr val="6B4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</a:t>
            </a:r>
            <a:endParaRPr lang="en-US" sz="154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624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Agro-zone, soil &amp; season lookup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20574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313432"/>
            <a:ext cx="640080" cy="640080"/>
          </a:xfrm>
          <a:prstGeom prst="ellipse">
            <a:avLst/>
          </a:prstGeom>
          <a:solidFill>
            <a:srgbClr val="6B4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154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Microphone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624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follow-up questions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959352"/>
            <a:ext cx="640080" cy="640080"/>
          </a:xfrm>
          <a:prstGeom prst="ellipse">
            <a:avLst/>
          </a:prstGeom>
          <a:solidFill>
            <a:srgbClr val="6B4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🔈</a:t>
            </a:r>
            <a:endParaRPr lang="en-US" sz="154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4270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treatment plans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03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959352"/>
            <a:ext cx="640080" cy="640080"/>
          </a:xfrm>
          <a:prstGeom prst="ellipse">
            <a:avLst/>
          </a:prstGeom>
          <a:solidFill>
            <a:srgbClr val="6B4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54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cloud calls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270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inference-time network dependency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703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1E8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3959352"/>
            <a:ext cx="640080" cy="640080"/>
          </a:xfrm>
          <a:prstGeom prst="ellipse">
            <a:avLst/>
          </a:prstGeom>
          <a:solidFill>
            <a:srgbClr val="6B4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8388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🛟</a:t>
            </a:r>
            <a:endParaRPr lang="en-US" sz="154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fallbacks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4270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has a safe degrade path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806440"/>
            <a:ext cx="10881360" cy="594360"/>
          </a:xfrm>
          <a:prstGeom prst="roundRect">
            <a:avLst>
              <a:gd name="adj" fmla="val 49231"/>
            </a:avLst>
          </a:prstGeom>
          <a:solidFill>
            <a:srgbClr val="1F4A3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on-device NPU inference on iQOO Snapdragon — LiteRT vision · ExecuTorch/QNN LLM · ONNX Runtime Mobile TTS/ASR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6B9B5E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Is the Beginning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offline architecture. A growing set of farmer decisions.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6B9B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 Diagnosis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48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identify → localized plan → spoken aloud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6B9B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9718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Dosage Calculator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7180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product amount from field size, computed in Python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6B9B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7947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947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Severity Scan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79476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pan estimates % of field affected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6B9B5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6177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6177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Follow-up Q&amp;A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6177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by speech, get spoken answers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6B4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4406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0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Health &amp; Pest ID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44068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frontier — same offline pipeline, new sensors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09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agriculture guidance. Zero connectivity.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2026-09-22T12:08:22Z</dcterms:created>
  <dcterms:modified xsi:type="dcterms:W3CDTF">2026-09-22T12:08:22Z</dcterms:modified>
</cp:coreProperties>
</file>